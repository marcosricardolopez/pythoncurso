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notesMasterIdLst>
    <p:notesMasterId r:id="rId9"/>
  </p:notesMasterIdLst>
  <p:sldIdLst>
    <p:sldId id="2580" r:id="rId3"/>
    <p:sldId id="2581" r:id="rId4"/>
    <p:sldId id="2562" r:id="rId5"/>
    <p:sldId id="2585" r:id="rId6"/>
    <p:sldId id="2586" r:id="rId7"/>
    <p:sldId id="25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ncipios Básicos de Python: Propósito, Tipo de Lenguaje y Uso" id="{C9032957-AAD1-453D-BB6E-A08F0119FF00}">
          <p14:sldIdLst>
            <p14:sldId id="2580"/>
            <p14:sldId id="2581"/>
            <p14:sldId id="2562"/>
            <p14:sldId id="2585"/>
            <p14:sldId id="2586"/>
            <p14:sldId id="25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93704-A326-4D31-B88C-1EEDC25A218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5400-99CA-4C53-A90B-6CB544FC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05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D893-E25E-ACCB-6B5F-519DBD6B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4DCF9-6ABB-A690-9B95-4980BAFA3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49854-A7F5-E9F0-02F8-A55724235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7B7F0-078D-6A52-1F77-9EDF0278B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1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1866B-9934-BC36-9495-821D7550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2F49F-0D8B-0F41-9FD8-471000438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158A5-D191-7C64-86EC-6C82C8979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ADB41-AC3B-F633-30D1-56660D008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09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591A-3711-4D05-575C-4FEC3DDE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340F7-358D-A20C-E9A7-B68108BB2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8ADA7-3207-3ECE-A741-619FC6B63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CE197-2178-8081-0A41-D8370C5F7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4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5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4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0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01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5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88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8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9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10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61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4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1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1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9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4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2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0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856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9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0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25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1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717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1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17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747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3673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969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88331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19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9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7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F9660-540B-FEDB-5CEA-A4B5CEFA065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22DAC-54FC-2CA1-FF6F-22D907E451C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6254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0150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388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06240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16731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5440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5865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5359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4775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11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" userDrawn="1">
          <p15:clr>
            <a:srgbClr val="F26B43"/>
          </p15:clr>
        </p15:guide>
        <p15:guide id="4" orient="horz" pos="4272" userDrawn="1">
          <p15:clr>
            <a:srgbClr val="F26B43"/>
          </p15:clr>
        </p15:guide>
        <p15:guide id="5" pos="48" userDrawn="1">
          <p15:clr>
            <a:srgbClr val="F26B43"/>
          </p15:clr>
        </p15:guide>
        <p15:guide id="6" pos="7632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ECCBB-037E-E6B8-91CF-8BDF8BEF9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800" b="0" i="0" u="none" noProof="0" dirty="0" err="1">
                <a:latin typeface="Century Gothic"/>
              </a:rPr>
              <a:t>SQLlite</a:t>
            </a:r>
            <a:r>
              <a:rPr lang="es-MX" sz="4800" b="0" i="0" u="none" noProof="0" dirty="0">
                <a:latin typeface="Century Gothic"/>
              </a:rPr>
              <a:t> &amp; Pandas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47587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MX" sz="3600" noProof="0" dirty="0" err="1">
                <a:latin typeface="Century Gothic"/>
              </a:rPr>
              <a:t>SQllite</a:t>
            </a:r>
            <a:endParaRPr lang="es-MX" sz="3600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61BD-677A-F050-A6BF-C91D2CB34C29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4212" y="1641274"/>
            <a:ext cx="10516394" cy="453092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s-ES" sz="2800" dirty="0"/>
              <a:t>SQLite es una base de datos ligera integrada en Python</a:t>
            </a:r>
            <a:endParaRPr lang="es-ES" sz="1800" b="1" dirty="0"/>
          </a:p>
          <a:p>
            <a:pPr marL="228600" lvl="1" indent="0" defTabSz="914400">
              <a:buNone/>
            </a:pPr>
            <a:r>
              <a:rPr lang="es-ES" sz="2800" dirty="0"/>
              <a:t>Características principales</a:t>
            </a:r>
          </a:p>
          <a:p>
            <a:pPr lvl="1" defTabSz="914400">
              <a:buFont typeface="Arial" panose="020B0604020202020204" pitchFamily="34" charset="0"/>
              <a:buChar char="•"/>
            </a:pPr>
            <a:r>
              <a:rPr lang="es-ES" sz="2800" dirty="0"/>
              <a:t>Guarda datos en tablas</a:t>
            </a:r>
          </a:p>
          <a:p>
            <a:pPr lvl="1" defTabSz="914400">
              <a:buFont typeface="Arial" panose="020B0604020202020204" pitchFamily="34" charset="0"/>
              <a:buChar char="•"/>
            </a:pPr>
            <a:r>
              <a:rPr lang="es-ES" sz="2800" dirty="0"/>
              <a:t>Usa lenguaje SQL</a:t>
            </a:r>
          </a:p>
          <a:p>
            <a:pPr lvl="1" defTabSz="914400">
              <a:buFont typeface="Arial" panose="020B0604020202020204" pitchFamily="34" charset="0"/>
              <a:buChar char="•"/>
            </a:pPr>
            <a:r>
              <a:rPr lang="es-ES" sz="2800" dirty="0"/>
              <a:t>No necesita servidor</a:t>
            </a:r>
          </a:p>
          <a:p>
            <a:pPr lvl="1" defTabSz="914400">
              <a:buFont typeface="Arial" panose="020B0604020202020204" pitchFamily="34" charset="0"/>
              <a:buChar char="•"/>
            </a:pPr>
            <a:r>
              <a:rPr lang="es-ES" sz="2800" dirty="0"/>
              <a:t>Toda la base de datos vive en un solo archivo</a:t>
            </a:r>
          </a:p>
          <a:p>
            <a:pPr marL="228600" lvl="1" indent="0" defTabSz="914400">
              <a:buNone/>
            </a:pPr>
            <a:endParaRPr lang="es-ES" sz="2800" dirty="0"/>
          </a:p>
          <a:p>
            <a:pPr marL="228600" lvl="1" indent="0" defTabSz="914400">
              <a:buNone/>
            </a:pPr>
            <a:endParaRPr lang="es-ES" sz="2800" dirty="0"/>
          </a:p>
          <a:p>
            <a:pPr marL="228600" lvl="1" indent="0" defTabSz="914400">
              <a:buNone/>
            </a:pPr>
            <a:r>
              <a:rPr lang="es-ES" sz="2800" dirty="0"/>
              <a:t>Ejemplo: </a:t>
            </a:r>
            <a:r>
              <a:rPr lang="es-ES" sz="2800" dirty="0" err="1"/>
              <a:t>tienda_videojuegos.db</a:t>
            </a:r>
            <a:endParaRPr lang="es-E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79A69-CA84-A4F1-7C75-C27FD32D923D}"/>
              </a:ext>
            </a:extLst>
          </p:cNvPr>
          <p:cNvSpPr txBox="1"/>
          <p:nvPr/>
        </p:nvSpPr>
        <p:spPr>
          <a:xfrm>
            <a:off x="6927586" y="5037772"/>
            <a:ext cx="2679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Ese archivo contiene:</a:t>
            </a:r>
          </a:p>
          <a:p>
            <a:r>
              <a:rPr lang="es-MX" dirty="0"/>
              <a:t>Tablas</a:t>
            </a:r>
          </a:p>
          <a:p>
            <a:r>
              <a:rPr lang="es-MX" dirty="0"/>
              <a:t>Datos</a:t>
            </a:r>
          </a:p>
          <a:p>
            <a:r>
              <a:rPr lang="es-MX" dirty="0"/>
              <a:t>Relaciones</a:t>
            </a:r>
          </a:p>
          <a:p>
            <a:r>
              <a:rPr lang="es-MX" dirty="0"/>
              <a:t>consultas</a:t>
            </a:r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Ejemplo</a:t>
            </a:r>
            <a:r>
              <a:rPr lang="en-US" sz="3600" dirty="0"/>
              <a:t> de </a:t>
            </a:r>
            <a:r>
              <a:rPr lang="en-US" sz="3600" dirty="0" err="1"/>
              <a:t>SQLLite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1090C-EA2A-1937-FD22-D75E1D29A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212" y="1760124"/>
            <a:ext cx="10967014" cy="4518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 err="1"/>
              <a:t>import</a:t>
            </a:r>
            <a:r>
              <a:rPr lang="es-ES" b="1" dirty="0"/>
              <a:t> sqlite3</a:t>
            </a:r>
          </a:p>
          <a:p>
            <a:pPr marL="0" indent="0">
              <a:buNone/>
            </a:pPr>
            <a:r>
              <a:rPr lang="es-ES" b="1" dirty="0" err="1"/>
              <a:t>conexion</a:t>
            </a:r>
            <a:r>
              <a:rPr lang="es-ES" b="1" dirty="0"/>
              <a:t> = sqlite3.connect("</a:t>
            </a:r>
            <a:r>
              <a:rPr lang="es-ES" b="1" dirty="0" err="1"/>
              <a:t>tienda.db</a:t>
            </a:r>
            <a:r>
              <a:rPr lang="es-ES" b="1" dirty="0"/>
              <a:t>")</a:t>
            </a:r>
          </a:p>
          <a:p>
            <a:pPr marL="0" indent="0">
              <a:buNone/>
            </a:pPr>
            <a:r>
              <a:rPr lang="es-ES" dirty="0"/>
              <a:t>cursor = </a:t>
            </a:r>
            <a:r>
              <a:rPr lang="es-ES" dirty="0" err="1"/>
              <a:t>conexion.cursor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 err="1"/>
              <a:t>cursor.execute</a:t>
            </a:r>
            <a:r>
              <a:rPr lang="es-ES" dirty="0"/>
              <a:t>("""CREATE TABLE productos (    </a:t>
            </a:r>
          </a:p>
          <a:p>
            <a:pPr marL="0" indent="0">
              <a:buNone/>
            </a:pPr>
            <a:r>
              <a:rPr lang="es-ES" dirty="0"/>
              <a:t>id INTEGER PRIMARY KEY,    </a:t>
            </a:r>
          </a:p>
          <a:p>
            <a:pPr marL="0" indent="0">
              <a:buNone/>
            </a:pPr>
            <a:r>
              <a:rPr lang="es-ES" dirty="0"/>
              <a:t>nombre TEXT,    precio REAL)""")</a:t>
            </a:r>
          </a:p>
          <a:p>
            <a:pPr marL="0" indent="0">
              <a:buNone/>
            </a:pPr>
            <a:r>
              <a:rPr lang="es-ES" dirty="0" err="1"/>
              <a:t>cursor.execute</a:t>
            </a:r>
            <a:r>
              <a:rPr lang="es-ES" dirty="0"/>
              <a:t>("""INSERT INTO productos</a:t>
            </a:r>
          </a:p>
          <a:p>
            <a:pPr marL="0" indent="0">
              <a:buNone/>
            </a:pPr>
            <a:r>
              <a:rPr lang="es-ES" dirty="0"/>
              <a:t>(nombre, precio)VALUES (?, ?)""",</a:t>
            </a:r>
          </a:p>
          <a:p>
            <a:pPr marL="0" indent="0">
              <a:buNone/>
            </a:pPr>
            <a:r>
              <a:rPr lang="es-ES" dirty="0"/>
              <a:t> ("PlayStation 5", 12000))</a:t>
            </a:r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C4503-CB6B-AE8A-BB79-2BD51550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1008-4947-5CC3-8006-6802F7C4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Pandas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62E50-2A46-488A-CB69-F5C3DF20AFA1}"/>
              </a:ext>
            </a:extLst>
          </p:cNvPr>
          <p:cNvSpPr txBox="1"/>
          <p:nvPr/>
        </p:nvSpPr>
        <p:spPr>
          <a:xfrm>
            <a:off x="684212" y="1662111"/>
            <a:ext cx="913288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Pandas es una librería para trabajar con datos</a:t>
            </a:r>
          </a:p>
          <a:p>
            <a:pPr lvl="1"/>
            <a:r>
              <a:rPr lang="es-ES" sz="2800" dirty="0"/>
              <a:t>Permite: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Leer archivos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Analizar información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Hacer estadísticas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Filtrar datos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800" dirty="0"/>
              <a:t>Crear reportes</a:t>
            </a:r>
            <a:endParaRPr lang="es-MX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297FE-0D87-768C-7E6F-475A536712DC}"/>
              </a:ext>
            </a:extLst>
          </p:cNvPr>
          <p:cNvSpPr txBox="1"/>
          <p:nvPr/>
        </p:nvSpPr>
        <p:spPr>
          <a:xfrm>
            <a:off x="6570662" y="2227320"/>
            <a:ext cx="5295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¿Dónde se usa pandas?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800" dirty="0"/>
              <a:t>Data Analytics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800" dirty="0"/>
              <a:t>Finanzas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800" dirty="0"/>
              <a:t>ERPs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800" dirty="0"/>
              <a:t>Inteligencia Artificial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800" dirty="0" err="1"/>
              <a:t>Dashboards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053660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424C7-6DBA-66F7-A178-48B16E1A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F8EA5-164B-9FAD-E5CA-AB229DDB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600" noProof="0" dirty="0"/>
              <a:t>Pandas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C1139-FC35-BBF5-F5DF-F43619641E26}"/>
              </a:ext>
            </a:extLst>
          </p:cNvPr>
          <p:cNvSpPr txBox="1"/>
          <p:nvPr/>
        </p:nvSpPr>
        <p:spPr>
          <a:xfrm>
            <a:off x="684212" y="1556411"/>
            <a:ext cx="987470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df</a:t>
            </a:r>
            <a:r>
              <a:rPr lang="en-US" sz="3200" dirty="0"/>
              <a:t> = </a:t>
            </a:r>
            <a:r>
              <a:rPr lang="en-US" sz="3200" dirty="0" err="1"/>
              <a:t>pd.read_csv</a:t>
            </a:r>
            <a:r>
              <a:rPr lang="en-US" sz="3200" dirty="0"/>
              <a:t>("ventas.csv")</a:t>
            </a:r>
          </a:p>
          <a:p>
            <a:endParaRPr lang="en-US" sz="3200" dirty="0"/>
          </a:p>
          <a:p>
            <a:r>
              <a:rPr lang="en-US" sz="3200" dirty="0"/>
              <a:t>Pandas </a:t>
            </a:r>
            <a:r>
              <a:rPr lang="en-US" sz="3200" dirty="0" err="1"/>
              <a:t>funciona</a:t>
            </a:r>
            <a:r>
              <a:rPr lang="en-US" sz="3200" dirty="0"/>
              <a:t> </a:t>
            </a:r>
            <a:r>
              <a:rPr lang="en-US" sz="3200" dirty="0" err="1"/>
              <a:t>siempre</a:t>
            </a:r>
            <a:r>
              <a:rPr lang="en-US" sz="3200" dirty="0"/>
              <a:t> con un </a:t>
            </a:r>
            <a:r>
              <a:rPr lang="en-US" sz="3200" dirty="0" err="1"/>
              <a:t>DataFrame</a:t>
            </a:r>
            <a:endParaRPr lang="en-US" sz="3200" dirty="0"/>
          </a:p>
          <a:p>
            <a:endParaRPr lang="es-ES" sz="3200" dirty="0"/>
          </a:p>
          <a:p>
            <a:r>
              <a:rPr lang="es-ES" sz="3200" dirty="0"/>
              <a:t>Un </a:t>
            </a:r>
            <a:r>
              <a:rPr lang="es-ES" sz="3200" dirty="0" err="1"/>
              <a:t>DataFrame</a:t>
            </a:r>
            <a:r>
              <a:rPr lang="es-ES" sz="3200" dirty="0"/>
              <a:t> es como: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Una tabla de Excel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Filas y columnas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3200" dirty="0"/>
              <a:t>Una mini base de datos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175606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9F233-6F8B-8D0F-8CB9-4CD8B14D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777B48D-7BF2-470D-876B-50CD5CC8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B7FBBB-5995-3DFC-7146-DB4CD9BDD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799"/>
            <a:ext cx="478114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noProof="0" dirty="0"/>
              <a:t>Pandas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3DA8283-3FF4-47B3-9266-60768C74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93200" y="8468"/>
            <a:ext cx="5795625" cy="5874808"/>
            <a:chOff x="6108170" y="8467"/>
            <a:chExt cx="6080656" cy="61637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EB65FF-EAD9-4242-80AE-A3FC7EB1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78B5500-48F2-41FA-BD8C-3C2400F62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47B2E66-9934-4251-A5B0-A180C0CC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CDA1666-64EC-4838-B0E1-4D545ECE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CC99E35-6C12-4F89-8CDA-9FD8B3CEE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45C3704-5BE8-DACF-100A-D6AC4E67D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499" y="31163"/>
            <a:ext cx="7820375" cy="663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3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5007</TotalTime>
  <Words>365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Light</vt:lpstr>
      <vt:lpstr>Arial</vt:lpstr>
      <vt:lpstr>Century Gothic</vt:lpstr>
      <vt:lpstr>Chamberi Super Display</vt:lpstr>
      <vt:lpstr>Wingdings 3</vt:lpstr>
      <vt:lpstr>Prismatic polygons</vt:lpstr>
      <vt:lpstr>Slice</vt:lpstr>
      <vt:lpstr>SQLlite &amp; Pandas</vt:lpstr>
      <vt:lpstr>SQllite</vt:lpstr>
      <vt:lpstr>Ejemplo de SQLLite</vt:lpstr>
      <vt:lpstr>Pandas</vt:lpstr>
      <vt:lpstr>Pandas</vt:lpstr>
      <vt:lpstr>Pandas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Marcos Ricardo</dc:creator>
  <cp:lastModifiedBy>Lopez, Marcos Ricardo</cp:lastModifiedBy>
  <cp:revision>9</cp:revision>
  <dcterms:created xsi:type="dcterms:W3CDTF">2026-04-14T22:52:20Z</dcterms:created>
  <dcterms:modified xsi:type="dcterms:W3CDTF">2026-05-12T21:41:25Z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2026-04-14T23:27:02Z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cb399e29-de7d-4547-8e48-dcd54129d048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