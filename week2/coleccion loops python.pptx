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notesMasterIdLst>
    <p:notesMasterId r:id="rId7"/>
  </p:notesMasterIdLst>
  <p:sldIdLst>
    <p:sldId id="2580" r:id="rId3"/>
    <p:sldId id="2581" r:id="rId4"/>
    <p:sldId id="2562" r:id="rId5"/>
    <p:sldId id="25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ncipios Básicos de Python: Propósito, Tipo de Lenguaje y Uso" id="{C9032957-AAD1-453D-BB6E-A08F0119FF00}">
          <p14:sldIdLst>
            <p14:sldId id="2580"/>
            <p14:sldId id="2581"/>
            <p14:sldId id="2562"/>
            <p14:sldId id="25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93704-A326-4D31-B88C-1EEDC25A218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5400-99CA-4C53-A90B-6CB544FC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05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70ED-E061-5D52-732B-75CD6769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FEAEC-F4F0-44E0-A2DB-0DA94088A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8457E-2498-9678-3345-0D1B5E751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64A8A-FBAE-931C-D282-B16672220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6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5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9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96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0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5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6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0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5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4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2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0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0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21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1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01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95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88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8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9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10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61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4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11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1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51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6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5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9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04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2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09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856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89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0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2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25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912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717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12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17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747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3673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969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88331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8219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39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7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F9660-540B-FEDB-5CEA-A4B5CEFA065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06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22DAC-54FC-2CA1-FF6F-22D907E451CF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46254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70150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388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06240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16731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5440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5865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85359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4775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5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11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8" userDrawn="1">
          <p15:clr>
            <a:srgbClr val="F26B43"/>
          </p15:clr>
        </p15:guide>
        <p15:guide id="4" orient="horz" pos="4272" userDrawn="1">
          <p15:clr>
            <a:srgbClr val="F26B43"/>
          </p15:clr>
        </p15:guide>
        <p15:guide id="5" pos="48" userDrawn="1">
          <p15:clr>
            <a:srgbClr val="F26B43"/>
          </p15:clr>
        </p15:guide>
        <p15:guide id="6" pos="7632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4032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986E7-0E3C-4F64-886E-935DDCB8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3033" y="1420238"/>
            <a:ext cx="4415786" cy="4751961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03D17F-F79E-40E5-9563-A1CFFCC06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5D5775-627F-4588-82B3-905EDF231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F2A20-5DE4-4BC0-91EA-5FFE33A4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536BA0-56C7-429C-B41E-B5724F0C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15726F-71BE-4007-B9B6-0A1AA0D5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ECCBB-037E-E6B8-91CF-8BDF8BEF9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0" i="0" u="none" dirty="0" err="1">
                <a:latin typeface="Century Gothic"/>
              </a:rPr>
              <a:t>Coleccion</a:t>
            </a:r>
            <a:r>
              <a:rPr lang="en-US" sz="4800" b="0" i="0" u="none" dirty="0">
                <a:latin typeface="Century Gothic"/>
              </a:rPr>
              <a:t> de </a:t>
            </a:r>
            <a:r>
              <a:rPr lang="en-US" sz="4800" b="0" i="0" u="none" dirty="0" err="1">
                <a:latin typeface="Century Gothic"/>
              </a:rPr>
              <a:t>datos</a:t>
            </a:r>
            <a:r>
              <a:rPr lang="en-US" sz="4800" b="0" i="0" u="none" dirty="0">
                <a:latin typeface="Century Gothic"/>
              </a:rPr>
              <a:t> y Loops (</a:t>
            </a:r>
            <a:r>
              <a:rPr lang="en-US" sz="4800" b="0" i="0" u="none" dirty="0" err="1">
                <a:latin typeface="Century Gothic"/>
              </a:rPr>
              <a:t>bucles</a:t>
            </a:r>
            <a:r>
              <a:rPr lang="en-US" sz="4800" b="0" i="0" u="none" dirty="0">
                <a:latin typeface="Century Gothic"/>
              </a:rPr>
              <a:t>)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DC5A5-3663-FEBB-2737-CD707C78B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87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600" dirty="0" err="1">
                <a:latin typeface="Century Gothic"/>
              </a:rPr>
              <a:t>Colecciones</a:t>
            </a:r>
            <a:r>
              <a:rPr lang="en-US" sz="3600" dirty="0">
                <a:latin typeface="Century Gothic"/>
              </a:rPr>
              <a:t> de </a:t>
            </a:r>
            <a:r>
              <a:rPr lang="en-US" sz="3600" dirty="0" err="1">
                <a:latin typeface="Century Gothic"/>
              </a:rPr>
              <a:t>datos</a:t>
            </a:r>
            <a:endParaRPr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61BD-677A-F050-A6BF-C91D2CB34C29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65363" y="1665413"/>
            <a:ext cx="5262036" cy="20313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defTabSz="914400">
              <a:buNone/>
            </a:pPr>
            <a:r>
              <a:rPr lang="es-ES" sz="1800" b="1" dirty="0"/>
              <a:t>Lista (</a:t>
            </a:r>
            <a:r>
              <a:rPr lang="es-ES" sz="1800" b="1" dirty="0" err="1"/>
              <a:t>list</a:t>
            </a:r>
            <a:r>
              <a:rPr lang="es-ES" sz="1800" b="1" dirty="0"/>
              <a:t>)</a:t>
            </a:r>
          </a:p>
          <a:p>
            <a:pPr marL="0" indent="0" defTabSz="914400">
              <a:buNone/>
            </a:pPr>
            <a:r>
              <a:rPr lang="es-ES" sz="1800" dirty="0"/>
              <a:t>Una lista guarda varios valores en orden y sí se puede modificar.</a:t>
            </a:r>
          </a:p>
          <a:p>
            <a:pPr marL="285750" lvl="1" indent="-285750" defTabSz="914400">
              <a:buFont typeface="Arial" panose="020B0604020202020204" pitchFamily="34" charset="0"/>
              <a:buChar char="•"/>
            </a:pPr>
            <a:r>
              <a:rPr lang="es-ES" sz="1800" dirty="0"/>
              <a:t>Permite repetidos</a:t>
            </a:r>
          </a:p>
          <a:p>
            <a:pPr marL="285750" lvl="1" indent="-285750" defTabSz="914400">
              <a:buFont typeface="Arial" panose="020B0604020202020204" pitchFamily="34" charset="0"/>
              <a:buChar char="•"/>
            </a:pPr>
            <a:r>
              <a:rPr lang="es-ES" sz="1800" dirty="0"/>
              <a:t>Ordenada </a:t>
            </a:r>
          </a:p>
          <a:p>
            <a:pPr marL="285750" lvl="1" indent="-285750" defTabSz="914400">
              <a:buFont typeface="Arial" panose="020B0604020202020204" pitchFamily="34" charset="0"/>
              <a:buChar char="•"/>
            </a:pPr>
            <a:r>
              <a:rPr lang="es-ES" sz="1800" dirty="0"/>
              <a:t>Mutable (editable)</a:t>
            </a:r>
            <a:endParaRPr lang="es-E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6B11E-6BFA-8763-D179-DBE5B45FC902}"/>
              </a:ext>
            </a:extLst>
          </p:cNvPr>
          <p:cNvSpPr txBox="1"/>
          <p:nvPr/>
        </p:nvSpPr>
        <p:spPr>
          <a:xfrm>
            <a:off x="6294663" y="1665413"/>
            <a:ext cx="48659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Tupla (</a:t>
            </a:r>
            <a:r>
              <a:rPr lang="es-ES" b="1" dirty="0" err="1"/>
              <a:t>tuple</a:t>
            </a:r>
            <a:r>
              <a:rPr lang="es-ES" b="1" dirty="0"/>
              <a:t>)</a:t>
            </a:r>
          </a:p>
          <a:p>
            <a:r>
              <a:rPr lang="es-ES" dirty="0"/>
              <a:t>Una tupla guarda datos en orden, pero NO se puede modificar después de creada.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Ordenada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Permite repetidos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Inmutable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608F3-A451-344A-8544-26A54E505702}"/>
              </a:ext>
            </a:extLst>
          </p:cNvPr>
          <p:cNvSpPr txBox="1"/>
          <p:nvPr/>
        </p:nvSpPr>
        <p:spPr>
          <a:xfrm>
            <a:off x="520022" y="4138136"/>
            <a:ext cx="52073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Set (</a:t>
            </a:r>
            <a:r>
              <a:rPr lang="es-ES" b="1" dirty="0">
                <a:latin typeface="Courier New" panose="02070309020205020404" pitchFamily="49" charset="0"/>
              </a:rPr>
              <a:t>set</a:t>
            </a:r>
            <a:r>
              <a:rPr lang="es-ES" b="1" dirty="0"/>
              <a:t>)</a:t>
            </a:r>
          </a:p>
          <a:p>
            <a:pPr>
              <a:buNone/>
            </a:pPr>
            <a:r>
              <a:rPr lang="es-ES" dirty="0"/>
              <a:t>Un set guarda datos sin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No ordenado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No permite repetidos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Editable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6FAB4B-0505-4720-0C66-E39C7F6A1B3B}"/>
              </a:ext>
            </a:extLst>
          </p:cNvPr>
          <p:cNvSpPr txBox="1"/>
          <p:nvPr/>
        </p:nvSpPr>
        <p:spPr>
          <a:xfrm>
            <a:off x="6294663" y="4047172"/>
            <a:ext cx="61028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Diccionario (</a:t>
            </a:r>
            <a:r>
              <a:rPr lang="es-ES" b="1" dirty="0" err="1">
                <a:latin typeface="Courier New" panose="02070309020205020404" pitchFamily="49" charset="0"/>
              </a:rPr>
              <a:t>dict</a:t>
            </a:r>
            <a:r>
              <a:rPr lang="es-ES" b="1" dirty="0"/>
              <a:t>)</a:t>
            </a:r>
          </a:p>
          <a:p>
            <a:pPr>
              <a:buNone/>
            </a:pPr>
            <a:r>
              <a:rPr lang="es-ES" dirty="0"/>
              <a:t>Guarda datos en formato </a:t>
            </a:r>
            <a:r>
              <a:rPr lang="es-ES" b="1" dirty="0"/>
              <a:t>clave : valor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Editable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Ordenado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No claves repetidas</a:t>
            </a:r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Ejemplos</a:t>
            </a:r>
            <a:r>
              <a:rPr lang="en-US" sz="3600" dirty="0"/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1090C-EA2A-1937-FD22-D75E1D29A9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760124"/>
            <a:ext cx="4800600" cy="4518212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Lista</a:t>
            </a:r>
          </a:p>
          <a:p>
            <a:pPr marL="0" indent="0">
              <a:buNone/>
            </a:pPr>
            <a:r>
              <a:rPr lang="en-US" dirty="0" err="1"/>
              <a:t>datos</a:t>
            </a:r>
            <a:r>
              <a:rPr lang="en-US" dirty="0"/>
              <a:t> = ["Pedro", "Ana", "Luis"]</a:t>
            </a:r>
          </a:p>
          <a:p>
            <a:pPr>
              <a:buAutoNum type="arabicPeriod" startAt="2"/>
            </a:pPr>
            <a:r>
              <a:rPr lang="en-US" dirty="0"/>
              <a:t>Tuple</a:t>
            </a:r>
          </a:p>
          <a:p>
            <a:pPr marL="0" indent="0">
              <a:buNone/>
            </a:pPr>
            <a:r>
              <a:rPr lang="en-US" dirty="0" err="1"/>
              <a:t>colores</a:t>
            </a:r>
            <a:r>
              <a:rPr lang="en-US" dirty="0"/>
              <a:t> = ("rojo", "</a:t>
            </a:r>
            <a:r>
              <a:rPr lang="en-US" dirty="0" err="1"/>
              <a:t>azul</a:t>
            </a:r>
            <a:r>
              <a:rPr lang="en-US" dirty="0"/>
              <a:t>", "</a:t>
            </a:r>
            <a:r>
              <a:rPr lang="en-US" dirty="0" err="1"/>
              <a:t>verde</a:t>
            </a:r>
            <a:r>
              <a:rPr lang="en-US" dirty="0"/>
              <a:t>")</a:t>
            </a:r>
          </a:p>
          <a:p>
            <a:pPr>
              <a:buAutoNum type="arabicPeriod" startAt="3"/>
            </a:pPr>
            <a:r>
              <a:rPr lang="en-US" dirty="0"/>
              <a:t>Set</a:t>
            </a:r>
          </a:p>
          <a:p>
            <a:pPr marL="0" indent="0">
              <a:buNone/>
            </a:pPr>
            <a:r>
              <a:rPr lang="en-US" dirty="0" err="1"/>
              <a:t>nombres</a:t>
            </a:r>
            <a:r>
              <a:rPr lang="en-US" dirty="0"/>
              <a:t> = {"Ana", "Luis", "Pedro"}</a:t>
            </a:r>
          </a:p>
          <a:p>
            <a:pPr>
              <a:buAutoNum type="arabicPeriod" startAt="4"/>
            </a:pPr>
            <a:r>
              <a:rPr lang="en-US" dirty="0" err="1"/>
              <a:t>Diccionario</a:t>
            </a:r>
            <a:endParaRPr lang="en-US" dirty="0"/>
          </a:p>
          <a:p>
            <a:pPr marL="0" indent="0">
              <a:buNone/>
            </a:pPr>
            <a:r>
              <a:rPr lang="es-ES" dirty="0"/>
              <a:t>empresa = {</a:t>
            </a:r>
            <a:br>
              <a:rPr lang="es-ES" dirty="0"/>
            </a:br>
            <a:r>
              <a:rPr lang="es-ES" dirty="0"/>
              <a:t>	"empleado1": {</a:t>
            </a:r>
            <a:br>
              <a:rPr lang="es-ES" dirty="0"/>
            </a:br>
            <a:r>
              <a:rPr lang="es-ES" dirty="0"/>
              <a:t>		"nombre": "Ana",</a:t>
            </a:r>
            <a:br>
              <a:rPr lang="es-ES" dirty="0"/>
            </a:br>
            <a:r>
              <a:rPr lang="es-ES" dirty="0"/>
              <a:t>		"puesto": "IT"</a:t>
            </a:r>
            <a:br>
              <a:rPr lang="es-ES" dirty="0"/>
            </a:br>
            <a:r>
              <a:rPr lang="es-ES" dirty="0"/>
              <a:t>				},</a:t>
            </a:r>
            <a:br>
              <a:rPr lang="es-ES" dirty="0"/>
            </a:br>
            <a:r>
              <a:rPr lang="es-ES" dirty="0"/>
              <a:t>	"empleado2": {</a:t>
            </a:r>
            <a:br>
              <a:rPr lang="es-ES" dirty="0"/>
            </a:br>
            <a:r>
              <a:rPr lang="es-ES" dirty="0"/>
              <a:t>		"nombre": "Luis",</a:t>
            </a:r>
            <a:br>
              <a:rPr lang="es-ES" dirty="0"/>
            </a:br>
            <a:r>
              <a:rPr lang="es-ES" dirty="0"/>
              <a:t>		"puesto": "HR"</a:t>
            </a:r>
            <a:br>
              <a:rPr lang="es-ES" dirty="0"/>
            </a:br>
            <a:r>
              <a:rPr lang="es-ES" dirty="0"/>
              <a:t>				}</a:t>
            </a:r>
            <a:br>
              <a:rPr lang="es-ES" dirty="0"/>
            </a:br>
            <a:r>
              <a:rPr lang="es-ES" dirty="0"/>
              <a:t>			}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4C4BB-E8B7-5408-132E-FD8D9D92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5F36E-491C-8F4A-AD9C-AB1E2276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sz="3600" b="0" i="0" u="none" dirty="0"/>
              <a:t>Loops</a:t>
            </a:r>
            <a:endParaRPr lang="en-US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2843-3422-1FD2-2D73-BD09E831D7A0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81038" y="1992310"/>
            <a:ext cx="3956276" cy="41798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lang="en-US" dirty="0"/>
              <a:t>FOR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s-ES" dirty="0"/>
              <a:t>Se usa para recorrer colecciones o repetir cierta cantidad de veces.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spcBef>
                <a:spcPct val="20000"/>
              </a:spcBef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A2E149-AD41-DAFE-E438-B3DFB03A129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262336" y="1992309"/>
            <a:ext cx="3956276" cy="4179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+mj-lt"/>
              <a:buAutoNum type="arabicPeriod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4572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+mj-lt"/>
              <a:buAutoNum type="arabicPeriod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800100" indent="-3429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+mj-lt"/>
              <a:buAutoNum type="arabicPeriod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028700" indent="-3429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+mj-lt"/>
              <a:buAutoNum type="arabicPeriod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257300" indent="-3429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+mj-lt"/>
              <a:buAutoNum type="arabicPeriod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Font typeface="+mj-lt"/>
              <a:buNone/>
            </a:pPr>
            <a:r>
              <a:rPr lang="en-US" dirty="0"/>
              <a:t>While</a:t>
            </a:r>
          </a:p>
          <a:p>
            <a:r>
              <a:rPr lang="es-ES" dirty="0"/>
              <a:t>Se repite mientras una condición sea verdadera.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pt-BR" dirty="0"/>
              <a:t>contador = 1</a:t>
            </a:r>
            <a:br>
              <a:rPr lang="pt-BR" dirty="0"/>
            </a:br>
            <a:br>
              <a:rPr lang="pt-BR" dirty="0"/>
            </a:br>
            <a:r>
              <a:rPr lang="pt-BR" dirty="0"/>
              <a:t>while contador &lt;= 5:</a:t>
            </a:r>
            <a:br>
              <a:rPr lang="pt-BR" dirty="0"/>
            </a:br>
            <a:r>
              <a:rPr lang="pt-BR" dirty="0"/>
              <a:t>	print(contador)</a:t>
            </a:r>
            <a:br>
              <a:rPr lang="pt-BR" dirty="0"/>
            </a:br>
            <a:r>
              <a:rPr lang="pt-BR" dirty="0"/>
              <a:t>	contador +=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52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2683</TotalTime>
  <Words>369</Words>
  <Application>Microsoft Office PowerPoint</Application>
  <PresentationFormat>Widescreen</PresentationFormat>
  <Paragraphs>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Light</vt:lpstr>
      <vt:lpstr>Arial</vt:lpstr>
      <vt:lpstr>Century Gothic</vt:lpstr>
      <vt:lpstr>Chamberi Super Display</vt:lpstr>
      <vt:lpstr>Courier New</vt:lpstr>
      <vt:lpstr>Wingdings 3</vt:lpstr>
      <vt:lpstr>Prismatic polygons</vt:lpstr>
      <vt:lpstr>Slice</vt:lpstr>
      <vt:lpstr>Coleccion de datos y Loops (bucles)</vt:lpstr>
      <vt:lpstr>Colecciones de datos</vt:lpstr>
      <vt:lpstr>Ejemplos </vt:lpstr>
      <vt:lpstr>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Lopez, Marcos Ricardo</dc:creator>
  <cp:lastModifiedBy>Lopez, Marcos Ricardo</cp:lastModifiedBy>
  <cp:revision>4</cp:revision>
  <dcterms:created xsi:type="dcterms:W3CDTF">2026-04-14T22:52:20Z</dcterms:created>
  <dcterms:modified xsi:type="dcterms:W3CDTF">2026-05-03T23:12:56Z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2026-04-14T23:27:02Z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cb399e29-de7d-4547-8e48-dcd54129d048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