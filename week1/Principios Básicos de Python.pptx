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15"/>
  </p:notesMasterIdLst>
  <p:sldIdLst>
    <p:sldId id="2561" r:id="rId3"/>
    <p:sldId id="2562" r:id="rId4"/>
    <p:sldId id="2564" r:id="rId5"/>
    <p:sldId id="2565" r:id="rId6"/>
    <p:sldId id="2566" r:id="rId7"/>
    <p:sldId id="2568" r:id="rId8"/>
    <p:sldId id="2569" r:id="rId9"/>
    <p:sldId id="2570" r:id="rId10"/>
    <p:sldId id="2572" r:id="rId11"/>
    <p:sldId id="2573" r:id="rId12"/>
    <p:sldId id="2574" r:id="rId13"/>
    <p:sldId id="25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61"/>
            <p14:sldId id="2562"/>
          </p14:sldIdLst>
        </p14:section>
        <p14:section name="¿Para qué se utiliza Python?" id="{4BBFEF4E-0AC4-4627-BC7F-E6BE07B5FEEA}">
          <p14:sldIdLst>
            <p14:sldId id="2564"/>
            <p14:sldId id="2565"/>
            <p14:sldId id="2566"/>
          </p14:sldIdLst>
        </p14:section>
        <p14:section name="Características y tipo de lenguaje que es Python" id="{6DC85C59-EC4D-4DD7-8961-BF37F3C96136}">
          <p14:sldIdLst>
            <p14:sldId id="2568"/>
            <p14:sldId id="2569"/>
            <p14:sldId id="2570"/>
          </p14:sldIdLst>
        </p14:section>
        <p14:section name="Principios básicos para usar Python" id="{AFA9FF8B-51BC-4E01-B161-6BC9640D6893}">
          <p14:sldIdLst>
            <p14:sldId id="2572"/>
            <p14:sldId id="2573"/>
            <p14:sldId id="2574"/>
          </p14:sldIdLst>
        </p14:section>
        <p14:section name="Recursos y recomendaciones para aprender Python" id="{5951D23F-6D2A-48AB-98C2-5C5096346D99}">
          <p14:sldIdLst/>
        </p14:section>
        <p14:section name="Conclusión: Python como herramienta versátil y accesible" id="{012177DA-3C06-47D3-9F67-E7A2FCC17270}">
          <p14:sldIdLst>
            <p14:sldId id="25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F82FE6-0988-44B5-8ECE-330C27728F84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156F16-3264-4014-9B3B-A5FECD99E5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 err="1"/>
            <a:t>Lenguaje</a:t>
          </a:r>
          <a:r>
            <a:rPr lang="en-US" b="0" i="0" dirty="0"/>
            <a:t> </a:t>
          </a:r>
          <a:r>
            <a:rPr lang="en-US" b="0" i="0" dirty="0" err="1"/>
            <a:t>Poderoso</a:t>
          </a:r>
          <a:r>
            <a:rPr lang="en-US" b="0" i="0" dirty="0"/>
            <a:t> y </a:t>
          </a:r>
          <a:r>
            <a:rPr lang="en-US" b="0" i="0" dirty="0" err="1"/>
            <a:t>Fácil</a:t>
          </a:r>
          <a:endParaRPr lang="en-US" dirty="0"/>
        </a:p>
      </dgm:t>
    </dgm:pt>
    <dgm:pt modelId="{E96A8EDC-EF5A-4388-B732-554C7FBC5D59}" type="parTrans" cxnId="{EE333F27-A950-438C-85FE-39D1E16844E0}">
      <dgm:prSet/>
      <dgm:spPr/>
      <dgm:t>
        <a:bodyPr/>
        <a:lstStyle/>
        <a:p>
          <a:endParaRPr lang="en-US"/>
        </a:p>
      </dgm:t>
    </dgm:pt>
    <dgm:pt modelId="{39223884-4EA2-4B38-8E63-B5F744938838}" type="sibTrans" cxnId="{EE333F27-A950-438C-85FE-39D1E16844E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61FB2828-2612-426D-A9C2-1554888B65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Python es un lenguaje poderoso y fácil de aprender, adecuado para principiantes y expertos por igual.</a:t>
          </a:r>
          <a:endParaRPr lang="en-US"/>
        </a:p>
      </dgm:t>
    </dgm:pt>
    <dgm:pt modelId="{6C767F04-230A-4134-BCAD-3F13359A3744}" type="parTrans" cxnId="{0026B5E2-ADC6-493B-96D9-A2195656ACBB}">
      <dgm:prSet/>
      <dgm:spPr/>
      <dgm:t>
        <a:bodyPr/>
        <a:lstStyle/>
        <a:p>
          <a:endParaRPr lang="en-US"/>
        </a:p>
      </dgm:t>
    </dgm:pt>
    <dgm:pt modelId="{C2F8B41F-FA51-47B2-B139-2A661344B251}" type="sibTrans" cxnId="{0026B5E2-ADC6-493B-96D9-A2195656ACBB}">
      <dgm:prSet/>
      <dgm:spPr/>
      <dgm:t>
        <a:bodyPr/>
        <a:lstStyle/>
        <a:p>
          <a:endParaRPr lang="en-US"/>
        </a:p>
      </dgm:t>
    </dgm:pt>
    <dgm:pt modelId="{882EA7CD-7EA5-4233-92F2-5340929937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Multiparadigma y Versátil</a:t>
          </a:r>
          <a:endParaRPr lang="en-US"/>
        </a:p>
      </dgm:t>
    </dgm:pt>
    <dgm:pt modelId="{614250E4-4B21-4941-BBDE-94C4EC928FED}" type="parTrans" cxnId="{635A7659-29D4-43AB-9512-BBB48F1CFFB1}">
      <dgm:prSet/>
      <dgm:spPr/>
      <dgm:t>
        <a:bodyPr/>
        <a:lstStyle/>
        <a:p>
          <a:endParaRPr lang="en-US"/>
        </a:p>
      </dgm:t>
    </dgm:pt>
    <dgm:pt modelId="{1591A2A1-48F2-4C8A-AD7C-B13E92FBDD2C}" type="sibTrans" cxnId="{635A7659-29D4-43AB-9512-BBB48F1CFFB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E3C2B601-A3EA-4A77-8D99-94F5FA7535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Su naturaleza multiparadigma permite aplicaciones en programación general, ciencia de datos y desarrollo web.</a:t>
          </a:r>
          <a:endParaRPr lang="en-US"/>
        </a:p>
      </dgm:t>
    </dgm:pt>
    <dgm:pt modelId="{C24EA7F2-4426-431D-A3E8-6480D5CD585F}" type="parTrans" cxnId="{781FA6EB-A7B9-4D17-B52D-94528B193FED}">
      <dgm:prSet/>
      <dgm:spPr/>
      <dgm:t>
        <a:bodyPr/>
        <a:lstStyle/>
        <a:p>
          <a:endParaRPr lang="en-US"/>
        </a:p>
      </dgm:t>
    </dgm:pt>
    <dgm:pt modelId="{C9E9E70C-7C88-4835-A6CD-024CBDFABAE2}" type="sibTrans" cxnId="{781FA6EB-A7B9-4D17-B52D-94528B193FED}">
      <dgm:prSet/>
      <dgm:spPr/>
      <dgm:t>
        <a:bodyPr/>
        <a:lstStyle/>
        <a:p>
          <a:endParaRPr lang="en-US"/>
        </a:p>
      </dgm:t>
    </dgm:pt>
    <dgm:pt modelId="{387F9FBF-141B-4887-ABDC-A3B0C162CF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Comunidad y Recursos</a:t>
          </a:r>
          <a:endParaRPr lang="en-US"/>
        </a:p>
      </dgm:t>
    </dgm:pt>
    <dgm:pt modelId="{E5A0920B-8064-4D64-B7D7-9630695AE9EB}" type="parTrans" cxnId="{445C517A-EAAC-4324-8954-26BCFAE51CD8}">
      <dgm:prSet/>
      <dgm:spPr/>
      <dgm:t>
        <a:bodyPr/>
        <a:lstStyle/>
        <a:p>
          <a:endParaRPr lang="en-US"/>
        </a:p>
      </dgm:t>
    </dgm:pt>
    <dgm:pt modelId="{EB4A093D-27EB-4E86-908C-6CD21E0D6212}" type="sibTrans" cxnId="{445C517A-EAAC-4324-8954-26BCFAE51CD8}">
      <dgm:prSet/>
      <dgm:spPr/>
      <dgm:t>
        <a:bodyPr/>
        <a:lstStyle/>
        <a:p>
          <a:endParaRPr lang="en-US"/>
        </a:p>
      </dgm:t>
    </dgm:pt>
    <dgm:pt modelId="{30C0D403-A4F6-4EFE-97C9-5711D7A318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Numerosos recursos y comunidades apoyan el aprendizaje y la práctica continua del lenguaje.</a:t>
          </a:r>
          <a:endParaRPr lang="en-US"/>
        </a:p>
      </dgm:t>
    </dgm:pt>
    <dgm:pt modelId="{B7FB2F77-3E4B-4249-A1E6-BF20DF96B994}" type="parTrans" cxnId="{2372DD8E-2C19-4EA0-B0DE-B2ED139156DE}">
      <dgm:prSet/>
      <dgm:spPr/>
      <dgm:t>
        <a:bodyPr/>
        <a:lstStyle/>
        <a:p>
          <a:endParaRPr lang="en-US"/>
        </a:p>
      </dgm:t>
    </dgm:pt>
    <dgm:pt modelId="{7B746715-6937-4C97-9F48-2013ABBFE6E0}" type="sibTrans" cxnId="{2372DD8E-2C19-4EA0-B0DE-B2ED139156DE}">
      <dgm:prSet/>
      <dgm:spPr/>
      <dgm:t>
        <a:bodyPr/>
        <a:lstStyle/>
        <a:p>
          <a:endParaRPr lang="en-US"/>
        </a:p>
      </dgm:t>
    </dgm:pt>
    <dgm:pt modelId="{7A867AE8-8677-4C05-8B1A-36A952CE3FA7}" type="pres">
      <dgm:prSet presAssocID="{98F82FE6-0988-44B5-8ECE-330C27728F84}" presName="Name0" presStyleCnt="0">
        <dgm:presLayoutVars>
          <dgm:dir/>
          <dgm:resizeHandles val="exact"/>
        </dgm:presLayoutVars>
      </dgm:prSet>
      <dgm:spPr/>
    </dgm:pt>
    <dgm:pt modelId="{375340DC-6C10-4B45-A41D-27817FC4F881}" type="pres">
      <dgm:prSet presAssocID="{66156F16-3264-4014-9B3B-A5FECD99E521}" presName="compNode" presStyleCnt="0"/>
      <dgm:spPr/>
    </dgm:pt>
    <dgm:pt modelId="{7E9B79F7-D255-41C2-B4E6-B23973AEA692}" type="pres">
      <dgm:prSet presAssocID="{66156F16-3264-4014-9B3B-A5FECD99E521}" presName="pictRect" presStyleLbl="revTx" presStyleIdx="0" presStyleCnt="6">
        <dgm:presLayoutVars>
          <dgm:chMax val="0"/>
          <dgm:bulletEnabled/>
        </dgm:presLayoutVars>
      </dgm:prSet>
      <dgm:spPr/>
    </dgm:pt>
    <dgm:pt modelId="{781F917D-8B6B-4C84-9899-E513DD651000}" type="pres">
      <dgm:prSet presAssocID="{66156F16-3264-4014-9B3B-A5FECD99E521}" presName="textRect" presStyleLbl="revTx" presStyleIdx="1" presStyleCnt="6">
        <dgm:presLayoutVars>
          <dgm:bulletEnabled/>
        </dgm:presLayoutVars>
      </dgm:prSet>
      <dgm:spPr/>
    </dgm:pt>
    <dgm:pt modelId="{C0B0AD42-A4B9-45A2-B779-37611827BEC0}" type="pres">
      <dgm:prSet presAssocID="{39223884-4EA2-4B38-8E63-B5F744938838}" presName="sibTrans" presStyleLbl="sibTrans2D1" presStyleIdx="0" presStyleCnt="0"/>
      <dgm:spPr/>
    </dgm:pt>
    <dgm:pt modelId="{FEC325AE-F3BB-41C8-AF60-D5008E3231F1}" type="pres">
      <dgm:prSet presAssocID="{882EA7CD-7EA5-4233-92F2-5340929937BD}" presName="compNode" presStyleCnt="0"/>
      <dgm:spPr/>
    </dgm:pt>
    <dgm:pt modelId="{255B43C0-AABD-42EA-BAFE-868ECF540CBC}" type="pres">
      <dgm:prSet presAssocID="{882EA7CD-7EA5-4233-92F2-5340929937BD}" presName="pictRect" presStyleLbl="revTx" presStyleIdx="2" presStyleCnt="6">
        <dgm:presLayoutVars>
          <dgm:chMax val="0"/>
          <dgm:bulletEnabled/>
        </dgm:presLayoutVars>
      </dgm:prSet>
      <dgm:spPr/>
    </dgm:pt>
    <dgm:pt modelId="{6D9AE3C0-E08D-4CC1-BE0E-DF49C147E861}" type="pres">
      <dgm:prSet presAssocID="{882EA7CD-7EA5-4233-92F2-5340929937BD}" presName="textRect" presStyleLbl="revTx" presStyleIdx="3" presStyleCnt="6">
        <dgm:presLayoutVars>
          <dgm:bulletEnabled/>
        </dgm:presLayoutVars>
      </dgm:prSet>
      <dgm:spPr/>
    </dgm:pt>
    <dgm:pt modelId="{8D7760FC-D3C6-4D09-AE03-6264055933C2}" type="pres">
      <dgm:prSet presAssocID="{1591A2A1-48F2-4C8A-AD7C-B13E92FBDD2C}" presName="sibTrans" presStyleLbl="sibTrans2D1" presStyleIdx="0" presStyleCnt="0"/>
      <dgm:spPr/>
    </dgm:pt>
    <dgm:pt modelId="{D855E0EA-23B3-4DF3-A471-188E192B2976}" type="pres">
      <dgm:prSet presAssocID="{387F9FBF-141B-4887-ABDC-A3B0C162CFFB}" presName="compNode" presStyleCnt="0"/>
      <dgm:spPr/>
    </dgm:pt>
    <dgm:pt modelId="{68512744-AE8E-4DAE-B84C-23D063C44011}" type="pres">
      <dgm:prSet presAssocID="{387F9FBF-141B-4887-ABDC-A3B0C162CFFB}" presName="pictRect" presStyleLbl="revTx" presStyleIdx="4" presStyleCnt="6">
        <dgm:presLayoutVars>
          <dgm:chMax val="0"/>
          <dgm:bulletEnabled/>
        </dgm:presLayoutVars>
      </dgm:prSet>
      <dgm:spPr/>
    </dgm:pt>
    <dgm:pt modelId="{9EE5B398-7191-4ABC-BB99-D6EC6F6DF33C}" type="pres">
      <dgm:prSet presAssocID="{387F9FBF-141B-4887-ABDC-A3B0C162CFFB}" presName="textRect" presStyleLbl="revTx" presStyleIdx="5" presStyleCnt="6">
        <dgm:presLayoutVars>
          <dgm:bulletEnabled/>
        </dgm:presLayoutVars>
      </dgm:prSet>
      <dgm:spPr/>
    </dgm:pt>
  </dgm:ptLst>
  <dgm:cxnLst>
    <dgm:cxn modelId="{EE333F27-A950-438C-85FE-39D1E16844E0}" srcId="{98F82FE6-0988-44B5-8ECE-330C27728F84}" destId="{66156F16-3264-4014-9B3B-A5FECD99E521}" srcOrd="0" destOrd="0" parTransId="{E96A8EDC-EF5A-4388-B732-554C7FBC5D59}" sibTransId="{39223884-4EA2-4B38-8E63-B5F744938838}"/>
    <dgm:cxn modelId="{62456037-1DCC-41B0-B1E2-FA1BB1690366}" type="presOf" srcId="{66156F16-3264-4014-9B3B-A5FECD99E521}" destId="{7E9B79F7-D255-41C2-B4E6-B23973AEA692}" srcOrd="0" destOrd="0" presId="urn:microsoft.com/office/officeart/2024/3/layout/hArchList1"/>
    <dgm:cxn modelId="{7FE04061-5372-4FA2-B41B-8F1A4620E6D8}" type="presOf" srcId="{98F82FE6-0988-44B5-8ECE-330C27728F84}" destId="{7A867AE8-8677-4C05-8B1A-36A952CE3FA7}" srcOrd="0" destOrd="0" presId="urn:microsoft.com/office/officeart/2024/3/layout/hArchList1"/>
    <dgm:cxn modelId="{EB833A68-E592-4B2B-B067-971028F90563}" type="presOf" srcId="{39223884-4EA2-4B38-8E63-B5F744938838}" destId="{C0B0AD42-A4B9-45A2-B779-37611827BEC0}" srcOrd="0" destOrd="0" presId="urn:microsoft.com/office/officeart/2024/3/layout/hArchList1"/>
    <dgm:cxn modelId="{635A7659-29D4-43AB-9512-BBB48F1CFFB1}" srcId="{98F82FE6-0988-44B5-8ECE-330C27728F84}" destId="{882EA7CD-7EA5-4233-92F2-5340929937BD}" srcOrd="1" destOrd="0" parTransId="{614250E4-4B21-4941-BBDE-94C4EC928FED}" sibTransId="{1591A2A1-48F2-4C8A-AD7C-B13E92FBDD2C}"/>
    <dgm:cxn modelId="{445C517A-EAAC-4324-8954-26BCFAE51CD8}" srcId="{98F82FE6-0988-44B5-8ECE-330C27728F84}" destId="{387F9FBF-141B-4887-ABDC-A3B0C162CFFB}" srcOrd="2" destOrd="0" parTransId="{E5A0920B-8064-4D64-B7D7-9630695AE9EB}" sibTransId="{EB4A093D-27EB-4E86-908C-6CD21E0D6212}"/>
    <dgm:cxn modelId="{2372DD8E-2C19-4EA0-B0DE-B2ED139156DE}" srcId="{387F9FBF-141B-4887-ABDC-A3B0C162CFFB}" destId="{30C0D403-A4F6-4EFE-97C9-5711D7A318F7}" srcOrd="0" destOrd="0" parTransId="{B7FB2F77-3E4B-4249-A1E6-BF20DF96B994}" sibTransId="{7B746715-6937-4C97-9F48-2013ABBFE6E0}"/>
    <dgm:cxn modelId="{4482CB90-8785-4AC1-9B41-EC3E4BEFAC4D}" type="presOf" srcId="{61FB2828-2612-426D-A9C2-1554888B65DD}" destId="{781F917D-8B6B-4C84-9899-E513DD651000}" srcOrd="0" destOrd="0" presId="urn:microsoft.com/office/officeart/2024/3/layout/hArchList1"/>
    <dgm:cxn modelId="{BB8A65BC-5FFD-41F9-9588-36199E49BD54}" type="presOf" srcId="{E3C2B601-A3EA-4A77-8D99-94F5FA7535C5}" destId="{6D9AE3C0-E08D-4CC1-BE0E-DF49C147E861}" srcOrd="0" destOrd="0" presId="urn:microsoft.com/office/officeart/2024/3/layout/hArchList1"/>
    <dgm:cxn modelId="{EA603BBF-C896-441E-94A7-1845ECC0BA45}" type="presOf" srcId="{30C0D403-A4F6-4EFE-97C9-5711D7A318F7}" destId="{9EE5B398-7191-4ABC-BB99-D6EC6F6DF33C}" srcOrd="0" destOrd="0" presId="urn:microsoft.com/office/officeart/2024/3/layout/hArchList1"/>
    <dgm:cxn modelId="{AB9339CE-102B-4873-838B-70BE186CF62E}" type="presOf" srcId="{1591A2A1-48F2-4C8A-AD7C-B13E92FBDD2C}" destId="{8D7760FC-D3C6-4D09-AE03-6264055933C2}" srcOrd="0" destOrd="0" presId="urn:microsoft.com/office/officeart/2024/3/layout/hArchList1"/>
    <dgm:cxn modelId="{3BFD90D7-35D5-4564-A5A7-5708A8319079}" type="presOf" srcId="{387F9FBF-141B-4887-ABDC-A3B0C162CFFB}" destId="{68512744-AE8E-4DAE-B84C-23D063C44011}" srcOrd="0" destOrd="0" presId="urn:microsoft.com/office/officeart/2024/3/layout/hArchList1"/>
    <dgm:cxn modelId="{267807DC-8FBF-4030-8293-E0C327D1DF8E}" type="presOf" srcId="{882EA7CD-7EA5-4233-92F2-5340929937BD}" destId="{255B43C0-AABD-42EA-BAFE-868ECF540CBC}" srcOrd="0" destOrd="0" presId="urn:microsoft.com/office/officeart/2024/3/layout/hArchList1"/>
    <dgm:cxn modelId="{0026B5E2-ADC6-493B-96D9-A2195656ACBB}" srcId="{66156F16-3264-4014-9B3B-A5FECD99E521}" destId="{61FB2828-2612-426D-A9C2-1554888B65DD}" srcOrd="0" destOrd="0" parTransId="{6C767F04-230A-4134-BCAD-3F13359A3744}" sibTransId="{C2F8B41F-FA51-47B2-B139-2A661344B251}"/>
    <dgm:cxn modelId="{781FA6EB-A7B9-4D17-B52D-94528B193FED}" srcId="{882EA7CD-7EA5-4233-92F2-5340929937BD}" destId="{E3C2B601-A3EA-4A77-8D99-94F5FA7535C5}" srcOrd="0" destOrd="0" parTransId="{C24EA7F2-4426-431D-A3E8-6480D5CD585F}" sibTransId="{C9E9E70C-7C88-4835-A6CD-024CBDFABAE2}"/>
    <dgm:cxn modelId="{70EDD23C-4036-4CF2-A5DE-DCAEFE1DD817}" type="presParOf" srcId="{7A867AE8-8677-4C05-8B1A-36A952CE3FA7}" destId="{375340DC-6C10-4B45-A41D-27817FC4F881}" srcOrd="0" destOrd="0" presId="urn:microsoft.com/office/officeart/2024/3/layout/hArchList1"/>
    <dgm:cxn modelId="{08D99BE1-58B5-4F69-86CF-3C3C76BA8332}" type="presParOf" srcId="{375340DC-6C10-4B45-A41D-27817FC4F881}" destId="{7E9B79F7-D255-41C2-B4E6-B23973AEA692}" srcOrd="0" destOrd="0" presId="urn:microsoft.com/office/officeart/2024/3/layout/hArchList1"/>
    <dgm:cxn modelId="{1C0821CB-7064-46FC-9BC1-1E7480062209}" type="presParOf" srcId="{375340DC-6C10-4B45-A41D-27817FC4F881}" destId="{781F917D-8B6B-4C84-9899-E513DD651000}" srcOrd="1" destOrd="0" presId="urn:microsoft.com/office/officeart/2024/3/layout/hArchList1"/>
    <dgm:cxn modelId="{32A9BABD-EC8A-46F3-9E4E-2D6EC54563BB}" type="presParOf" srcId="{7A867AE8-8677-4C05-8B1A-36A952CE3FA7}" destId="{C0B0AD42-A4B9-45A2-B779-37611827BEC0}" srcOrd="1" destOrd="0" presId="urn:microsoft.com/office/officeart/2024/3/layout/hArchList1"/>
    <dgm:cxn modelId="{C23CB383-8535-4E76-A613-A1F3462A1EE4}" type="presParOf" srcId="{7A867AE8-8677-4C05-8B1A-36A952CE3FA7}" destId="{FEC325AE-F3BB-41C8-AF60-D5008E3231F1}" srcOrd="2" destOrd="0" presId="urn:microsoft.com/office/officeart/2024/3/layout/hArchList1"/>
    <dgm:cxn modelId="{7D1F7AEF-0D47-42FE-896C-E3AA83D6AEE6}" type="presParOf" srcId="{FEC325AE-F3BB-41C8-AF60-D5008E3231F1}" destId="{255B43C0-AABD-42EA-BAFE-868ECF540CBC}" srcOrd="0" destOrd="0" presId="urn:microsoft.com/office/officeart/2024/3/layout/hArchList1"/>
    <dgm:cxn modelId="{8D55764D-49E5-4675-9312-92499462C66C}" type="presParOf" srcId="{FEC325AE-F3BB-41C8-AF60-D5008E3231F1}" destId="{6D9AE3C0-E08D-4CC1-BE0E-DF49C147E861}" srcOrd="1" destOrd="0" presId="urn:microsoft.com/office/officeart/2024/3/layout/hArchList1"/>
    <dgm:cxn modelId="{EDBA4E50-D7D6-401F-92AB-0EF49310E091}" type="presParOf" srcId="{7A867AE8-8677-4C05-8B1A-36A952CE3FA7}" destId="{8D7760FC-D3C6-4D09-AE03-6264055933C2}" srcOrd="3" destOrd="0" presId="urn:microsoft.com/office/officeart/2024/3/layout/hArchList1"/>
    <dgm:cxn modelId="{36A40308-2172-4011-B7D2-4BB05D4B8D6B}" type="presParOf" srcId="{7A867AE8-8677-4C05-8B1A-36A952CE3FA7}" destId="{D855E0EA-23B3-4DF3-A471-188E192B2976}" srcOrd="4" destOrd="0" presId="urn:microsoft.com/office/officeart/2024/3/layout/hArchList1"/>
    <dgm:cxn modelId="{4B9521A9-0332-4F13-9111-6845871C2932}" type="presParOf" srcId="{D855E0EA-23B3-4DF3-A471-188E192B2976}" destId="{68512744-AE8E-4DAE-B84C-23D063C44011}" srcOrd="0" destOrd="0" presId="urn:microsoft.com/office/officeart/2024/3/layout/hArchList1"/>
    <dgm:cxn modelId="{69F593A1-930A-41EF-8F08-6B448B59CFE2}" type="presParOf" srcId="{D855E0EA-23B3-4DF3-A471-188E192B2976}" destId="{9EE5B398-7191-4ABC-BB99-D6EC6F6DF33C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B79F7-D255-41C2-B4E6-B23973AEA692}">
      <dsp:nvSpPr>
        <dsp:cNvPr id="0" name=""/>
        <dsp:cNvSpPr/>
      </dsp:nvSpPr>
      <dsp:spPr>
        <a:xfrm>
          <a:off x="0" y="0"/>
          <a:ext cx="2619374" cy="6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 dirty="0" err="1"/>
            <a:t>Lenguaje</a:t>
          </a:r>
          <a:r>
            <a:rPr lang="en-US" sz="1800" b="0" i="0" kern="1200" dirty="0"/>
            <a:t> </a:t>
          </a:r>
          <a:r>
            <a:rPr lang="en-US" sz="1800" b="0" i="0" kern="1200" dirty="0" err="1"/>
            <a:t>Poderoso</a:t>
          </a:r>
          <a:r>
            <a:rPr lang="en-US" sz="1800" b="0" i="0" kern="1200" dirty="0"/>
            <a:t> y </a:t>
          </a:r>
          <a:r>
            <a:rPr lang="en-US" sz="1800" b="0" i="0" kern="1200" dirty="0" err="1"/>
            <a:t>Fácil</a:t>
          </a:r>
          <a:endParaRPr lang="en-US" sz="1800" kern="1200" dirty="0"/>
        </a:p>
      </dsp:txBody>
      <dsp:txXfrm>
        <a:off x="0" y="0"/>
        <a:ext cx="2619374" cy="615255"/>
      </dsp:txXfrm>
    </dsp:sp>
    <dsp:sp modelId="{781F917D-8B6B-4C84-9899-E513DD651000}">
      <dsp:nvSpPr>
        <dsp:cNvPr id="0" name=""/>
        <dsp:cNvSpPr/>
      </dsp:nvSpPr>
      <dsp:spPr>
        <a:xfrm>
          <a:off x="0" y="615255"/>
          <a:ext cx="2619374" cy="197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Python es un lenguaje poderoso y fácil de aprender, adecuado para principiantes y expertos por igual.</a:t>
          </a:r>
          <a:endParaRPr lang="en-US" sz="1400" kern="1200"/>
        </a:p>
      </dsp:txBody>
      <dsp:txXfrm>
        <a:off x="0" y="615255"/>
        <a:ext cx="2619374" cy="1975544"/>
      </dsp:txXfrm>
    </dsp:sp>
    <dsp:sp modelId="{255B43C0-AABD-42EA-BAFE-868ECF540CBC}">
      <dsp:nvSpPr>
        <dsp:cNvPr id="0" name=""/>
        <dsp:cNvSpPr/>
      </dsp:nvSpPr>
      <dsp:spPr>
        <a:xfrm>
          <a:off x="2881312" y="0"/>
          <a:ext cx="2619374" cy="6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Multiparadigma y Versátil</a:t>
          </a:r>
          <a:endParaRPr lang="en-US" sz="1800" kern="1200"/>
        </a:p>
      </dsp:txBody>
      <dsp:txXfrm>
        <a:off x="2881312" y="0"/>
        <a:ext cx="2619374" cy="615255"/>
      </dsp:txXfrm>
    </dsp:sp>
    <dsp:sp modelId="{6D9AE3C0-E08D-4CC1-BE0E-DF49C147E861}">
      <dsp:nvSpPr>
        <dsp:cNvPr id="0" name=""/>
        <dsp:cNvSpPr/>
      </dsp:nvSpPr>
      <dsp:spPr>
        <a:xfrm>
          <a:off x="2881312" y="615255"/>
          <a:ext cx="2619374" cy="197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Su naturaleza multiparadigma permite aplicaciones en programación general, ciencia de datos y desarrollo web.</a:t>
          </a:r>
          <a:endParaRPr lang="en-US" sz="1400" kern="1200"/>
        </a:p>
      </dsp:txBody>
      <dsp:txXfrm>
        <a:off x="2881312" y="615255"/>
        <a:ext cx="2619374" cy="1975544"/>
      </dsp:txXfrm>
    </dsp:sp>
    <dsp:sp modelId="{68512744-AE8E-4DAE-B84C-23D063C44011}">
      <dsp:nvSpPr>
        <dsp:cNvPr id="0" name=""/>
        <dsp:cNvSpPr/>
      </dsp:nvSpPr>
      <dsp:spPr>
        <a:xfrm>
          <a:off x="5762625" y="0"/>
          <a:ext cx="2619374" cy="6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Comunidad y Recursos</a:t>
          </a:r>
          <a:endParaRPr lang="en-US" sz="1800" kern="1200"/>
        </a:p>
      </dsp:txBody>
      <dsp:txXfrm>
        <a:off x="5762625" y="0"/>
        <a:ext cx="2619374" cy="615255"/>
      </dsp:txXfrm>
    </dsp:sp>
    <dsp:sp modelId="{9EE5B398-7191-4ABC-BB99-D6EC6F6DF33C}">
      <dsp:nvSpPr>
        <dsp:cNvPr id="0" name=""/>
        <dsp:cNvSpPr/>
      </dsp:nvSpPr>
      <dsp:spPr>
        <a:xfrm>
          <a:off x="5762625" y="615255"/>
          <a:ext cx="2619374" cy="1975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Numerosos recursos y comunidades apoyan el aprendizaje y la práctica continua del lenguaje.</a:t>
          </a:r>
          <a:endParaRPr lang="en-US" sz="1400" kern="1200"/>
        </a:p>
      </dsp:txBody>
      <dsp:txXfrm>
        <a:off x="5762625" y="615255"/>
        <a:ext cx="2619374" cy="1975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Python es un lenguaje multipropósito ampliamente utilizado en desarrollo de aplicaciones, prototipado rápido y scripting. Su diseño facilita la manipulación de datos, integración con otras tecnologías y automatización de tareas repetitivas, haciendo que sea ideal para proyectos tanto simples como complejos.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4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Python domina el campo de la ciencia de datos debido a bibliotecas como Pandas, NumPy y scikit-learn. Además, su uso en automatización de procesos se extiende en sectores como finanzas, marketing y operaciones industriales, facilitando el análisis de grandes volúmenes de datos y la generación de reportes automáticos.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8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Python es el núcleo de frameworks web populares como Django y Flask, que permiten crear aplicaciones robustas y seguras con rapidez. Además, en desarrollo de software, Python se usa para crear interfaces gráficas, herramientas de prueba y scripts para módulos de backend, mejorando la productividad de los equipos.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06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Python es interpretado, lo que significa que su código se ejecuta línea por línea sin necesidad de compilación previa. Esto acelera el desarrollo y depuración. Además, como lenguaje de alto nivel, abstrae detalles del hardware permitiendo centrarse en la lógica del programa y mejorando la legibilidad.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1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La sintaxis de Python está diseñada para ser intuitiva y cercana al lenguaje natural. Esto facilita el aprendizaje y reduce errores, y es una de las razones por las que es muy popular entre principiantes y expertos. Además, promueve buenas prácticas de programación como indentación obligatoria.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70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Python soporta varios paradigmas de programación, permitiendo a los desarrolladores elegir el estilo que mejor se adapte al problema. Su soporte para programación orientada a objetos favorece modularidad, mientras que su capacidad funcional y estructura mejora la claridad y reutilización del código.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06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Para comenzar a usar Python, es necesario instalar el intérprete desde la web oficial, además de un entorno de desarrollo como Visual Studio Code o PyCharm. Configurar correctamente variables ambientales y librerías es vital para evitar problemas comunes y garantizar un entorno estable.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10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Un programa en Python se compone de declaraciones, funciones y, opcionalmente, clases, con una estructura clara y jerárquica definida por la indentación. Entender esta estructura es fundamental para la escritura eficiente y el mantenimiento del código.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67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Ejecutar un script básico como 'Hello, World!' permite entender cómo funciona el flujo de ejecución en Python. Este ejemplo simple demuestra la impresión en consola y la estructura mínima para un programa funcional, sentando la base para desarrollos más complejos.
Origen de la imagen: generada por IA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16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 resumen, Python se presenta como un lenguaje de programación poderoso y fácil de aprender, ideal para diversas aplicaciones desde la programación general hasta la ciencia de datos y desarrollo web. Su sintaxis clara y su naturaleza multiparadigma lo hacen accesible para principiantes y profesionales. Además, existen numerosos recursos y comunidades que facilitan el aprendizaje y la práctica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78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65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2971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12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8" r:id="rId2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Principios Básicos de Python: Propósito, Tipo de Lenguaje y Uso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DC5A5-3663-FEBB-2737-CD707C78B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Conceptos esenciales para entender Python y su aplicación</a:t>
            </a:r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Temas de la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¿Para qué se utiliza Python?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Características y tipo de lenguaje que es Python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Principios básicos para usar Python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Recursos y recomendaciones para aprender Python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D20F-68C9-BD62-1EF6-D67FD74D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/>
              <a:t>Python en programación general</a:t>
            </a:r>
          </a:p>
        </p:txBody>
      </p:sp>
      <p:pic>
        <p:nvPicPr>
          <p:cNvPr id="5" name="Content Placeholder 4" descr="Pantalla de ordenador con código Python, gráficos de datos e iconos de automatización en un espacio de trabajo moderno">
            <a:extLst>
              <a:ext uri="{FF2B5EF4-FFF2-40B4-BE49-F238E27FC236}">
                <a16:creationId xmlns:a16="http://schemas.microsoft.com/office/drawing/2014/main" id="{7C03B9FC-4796-4C47-8B42-8E614831F2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539" r="8539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49E56-C79A-ADBE-BD4E-02C800DBC5A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/>
              <a:t>Desarrollo de </a:t>
            </a:r>
            <a:r>
              <a:rPr lang="en-US" b="1" dirty="0" err="1"/>
              <a:t>aplicaciones</a:t>
            </a:r>
            <a:endParaRPr lang="en-US" b="1" dirty="0"/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Python es </a:t>
            </a:r>
            <a:r>
              <a:rPr dirty="0" err="1"/>
              <a:t>ampliamente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para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debido</a:t>
            </a:r>
            <a:r>
              <a:rPr dirty="0"/>
              <a:t> 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sintaxis</a:t>
            </a:r>
            <a:r>
              <a:rPr dirty="0"/>
              <a:t> </a:t>
            </a:r>
            <a:r>
              <a:rPr dirty="0" err="1"/>
              <a:t>sencilla</a:t>
            </a:r>
            <a:r>
              <a:rPr dirty="0"/>
              <a:t> y </a:t>
            </a:r>
            <a:r>
              <a:rPr dirty="0" err="1"/>
              <a:t>librerías</a:t>
            </a:r>
            <a:r>
              <a:rPr dirty="0"/>
              <a:t> robustas.</a:t>
            </a:r>
            <a:endParaRPr lang="en-US" dirty="0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 err="1"/>
              <a:t>Automatización</a:t>
            </a:r>
            <a:r>
              <a:rPr lang="en-US" b="1" dirty="0"/>
              <a:t> de </a:t>
            </a:r>
            <a:r>
              <a:rPr lang="en-US" b="1" dirty="0" err="1"/>
              <a:t>tareas</a:t>
            </a:r>
            <a:endParaRPr lang="en-US" b="1" dirty="0"/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Python </a:t>
            </a:r>
            <a:r>
              <a:rPr dirty="0" err="1"/>
              <a:t>facilita</a:t>
            </a:r>
            <a:r>
              <a:rPr dirty="0"/>
              <a:t> la </a:t>
            </a:r>
            <a:r>
              <a:rPr dirty="0" err="1"/>
              <a:t>automatización</a:t>
            </a:r>
            <a:r>
              <a:rPr dirty="0"/>
              <a:t> de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repetitivas</a:t>
            </a:r>
            <a:r>
              <a:rPr dirty="0"/>
              <a:t>, </a:t>
            </a:r>
            <a:r>
              <a:rPr dirty="0" err="1"/>
              <a:t>optimizando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y </a:t>
            </a:r>
            <a:r>
              <a:rPr dirty="0" err="1"/>
              <a:t>ahorrando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.</a:t>
            </a:r>
            <a:endParaRPr lang="es-ES" dirty="0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b="1" dirty="0"/>
              <a:t>Manipulación e integración de datos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Python es ideal para manipular </a:t>
            </a:r>
            <a:r>
              <a:rPr dirty="0" err="1"/>
              <a:t>datos</a:t>
            </a:r>
            <a:r>
              <a:rPr dirty="0"/>
              <a:t> y se integra </a:t>
            </a:r>
            <a:r>
              <a:rPr dirty="0" err="1"/>
              <a:t>fácilmente</a:t>
            </a:r>
            <a:r>
              <a:rPr dirty="0"/>
              <a:t> con </a:t>
            </a:r>
            <a:r>
              <a:rPr dirty="0" err="1"/>
              <a:t>diversas</a:t>
            </a:r>
            <a:r>
              <a:rPr dirty="0"/>
              <a:t> </a:t>
            </a:r>
            <a:r>
              <a:rPr dirty="0" err="1"/>
              <a:t>tecnologías</a:t>
            </a:r>
            <a:r>
              <a:rPr dirty="0"/>
              <a:t> y </a:t>
            </a:r>
            <a:r>
              <a:rPr dirty="0" err="1"/>
              <a:t>plataformas</a:t>
            </a:r>
            <a:r>
              <a:rPr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98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C060-CB40-FABF-17BE-260B97C2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 sz="3100" dirty="0" err="1"/>
              <a:t>Aplicaciones</a:t>
            </a:r>
            <a:r>
              <a:rPr lang="en-US" sz="3100" dirty="0"/>
              <a:t> </a:t>
            </a:r>
            <a:r>
              <a:rPr lang="en-US" sz="3100" dirty="0" err="1"/>
              <a:t>en</a:t>
            </a:r>
            <a:r>
              <a:rPr lang="en-US" sz="3100" dirty="0"/>
              <a:t> </a:t>
            </a:r>
            <a:r>
              <a:rPr lang="en-US" sz="3100" dirty="0" err="1"/>
              <a:t>ciencia</a:t>
            </a:r>
            <a:r>
              <a:rPr lang="en-US" sz="3100" dirty="0"/>
              <a:t> de </a:t>
            </a:r>
            <a:r>
              <a:rPr lang="en-US" sz="3100" dirty="0" err="1"/>
              <a:t>datos</a:t>
            </a:r>
            <a:r>
              <a:rPr lang="en-US" sz="3100" dirty="0"/>
              <a:t> y </a:t>
            </a:r>
            <a:r>
              <a:rPr lang="en-US" sz="3100" dirty="0" err="1"/>
              <a:t>automatización</a:t>
            </a:r>
            <a:endParaRPr lang="en-US" sz="3100" dirty="0"/>
          </a:p>
        </p:txBody>
      </p:sp>
      <p:pic>
        <p:nvPicPr>
          <p:cNvPr id="5" name="Content Placeholder 4" descr="Análisis y automatización de datos con bibliotecas de Python en finanzas e industria">
            <a:extLst>
              <a:ext uri="{FF2B5EF4-FFF2-40B4-BE49-F238E27FC236}">
                <a16:creationId xmlns:a16="http://schemas.microsoft.com/office/drawing/2014/main" id="{0794DB27-76DA-4C4E-AF10-9C9C3CE399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7DD8D-514A-AE37-38F0-1EEC60BCC09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b="1" dirty="0"/>
              <a:t>Dominio en Ciencia de Datos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Python es </a:t>
            </a:r>
            <a:r>
              <a:rPr dirty="0" err="1"/>
              <a:t>esencial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ciencia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gracias a </a:t>
            </a:r>
            <a:r>
              <a:rPr lang="en-US" dirty="0" err="1"/>
              <a:t>paquetes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Pandas, NumPy y scikit-learn para </a:t>
            </a:r>
            <a:r>
              <a:rPr dirty="0" err="1"/>
              <a:t>análisis</a:t>
            </a:r>
            <a:r>
              <a:rPr dirty="0"/>
              <a:t> y </a:t>
            </a:r>
            <a:r>
              <a:rPr dirty="0" err="1"/>
              <a:t>modelado</a:t>
            </a:r>
            <a:r>
              <a:rPr dirty="0"/>
              <a:t>.</a:t>
            </a:r>
            <a:endParaRPr lang="en-US" dirty="0"/>
          </a:p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 err="1"/>
              <a:t>Automatización</a:t>
            </a:r>
            <a:r>
              <a:rPr lang="en-US" b="1" dirty="0"/>
              <a:t> de </a:t>
            </a:r>
            <a:r>
              <a:rPr lang="en-US" b="1" dirty="0" err="1"/>
              <a:t>Procesos</a:t>
            </a:r>
            <a:endParaRPr lang="en-US" b="1" dirty="0"/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Python </a:t>
            </a:r>
            <a:r>
              <a:rPr dirty="0" err="1"/>
              <a:t>facilita</a:t>
            </a:r>
            <a:r>
              <a:rPr dirty="0"/>
              <a:t> la </a:t>
            </a:r>
            <a:r>
              <a:rPr dirty="0" err="1"/>
              <a:t>automatización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finanzas</a:t>
            </a:r>
            <a:r>
              <a:rPr dirty="0"/>
              <a:t>, marketing y </a:t>
            </a:r>
            <a:r>
              <a:rPr dirty="0" err="1"/>
              <a:t>operaciones</a:t>
            </a:r>
            <a:r>
              <a:rPr dirty="0"/>
              <a:t>, </a:t>
            </a:r>
            <a:r>
              <a:rPr dirty="0" err="1"/>
              <a:t>mejorando</a:t>
            </a:r>
            <a:r>
              <a:rPr dirty="0"/>
              <a:t> la </a:t>
            </a:r>
            <a:r>
              <a:rPr dirty="0" err="1"/>
              <a:t>eficiencia</a:t>
            </a:r>
            <a:r>
              <a:rPr dirty="0"/>
              <a:t> y </a:t>
            </a:r>
            <a:r>
              <a:rPr dirty="0" err="1"/>
              <a:t>precisión</a:t>
            </a:r>
            <a:r>
              <a:rPr dirty="0"/>
              <a:t> de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repetitivas</a:t>
            </a:r>
            <a:r>
              <a:rPr dirty="0"/>
              <a:t>.</a:t>
            </a:r>
            <a:endParaRPr lang="en-US" dirty="0"/>
          </a:p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 err="1"/>
              <a:t>Análisis</a:t>
            </a:r>
            <a:r>
              <a:rPr lang="en-US" b="1" dirty="0"/>
              <a:t> y </a:t>
            </a:r>
            <a:r>
              <a:rPr lang="en-US" b="1" dirty="0" err="1"/>
              <a:t>Reportes</a:t>
            </a:r>
            <a:endParaRPr lang="en-US" b="1" dirty="0"/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/>
              <a:t>El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volúmenes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y la </a:t>
            </a:r>
            <a:r>
              <a:rPr dirty="0" err="1"/>
              <a:t>generación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de </a:t>
            </a:r>
            <a:r>
              <a:rPr dirty="0" err="1"/>
              <a:t>reportes</a:t>
            </a:r>
            <a:r>
              <a:rPr dirty="0"/>
              <a:t> son </a:t>
            </a:r>
            <a:r>
              <a:rPr dirty="0" err="1"/>
              <a:t>posibles</a:t>
            </a:r>
            <a:r>
              <a:rPr dirty="0"/>
              <a:t> con </a:t>
            </a:r>
            <a:r>
              <a:rPr dirty="0" err="1"/>
              <a:t>herramientas</a:t>
            </a:r>
            <a:r>
              <a:rPr dirty="0"/>
              <a:t> Python </a:t>
            </a:r>
            <a:r>
              <a:rPr dirty="0" err="1"/>
              <a:t>especializadas</a:t>
            </a:r>
            <a:r>
              <a:rPr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44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0C26-8CC0-C23E-1563-BD94B596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Desarrollo web y de software</a:t>
            </a:r>
          </a:p>
        </p:txBody>
      </p:sp>
      <p:pic>
        <p:nvPicPr>
          <p:cNvPr id="5" name="Content Placeholder 4" descr="Desarrollo web moderno con pantallas de programación, herramientas de pruebas de software y colaboración en equipo">
            <a:extLst>
              <a:ext uri="{FF2B5EF4-FFF2-40B4-BE49-F238E27FC236}">
                <a16:creationId xmlns:a16="http://schemas.microsoft.com/office/drawing/2014/main" id="{80F13EFA-1662-4EFC-ADB6-89ED01D2B0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8703-9C9B-EA34-1E85-AA727AD50B4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Frameworks Web Populares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impulsa frameworks como Django y Flask para desarrollar aplicaciones web seguras y eficientes rápidamente.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Desarrollo de Software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se utiliza para crear interfaces gráficas, herramientas de prueba y scripts que mejoran la productividad del backend.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977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E67D-29B8-042D-92BB-467A3B29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/>
              <a:t>Lenguaje interpretado y de alto nivel</a:t>
            </a:r>
          </a:p>
        </p:txBody>
      </p:sp>
      <p:pic>
        <p:nvPicPr>
          <p:cNvPr id="5" name="Content Placeholder 4" descr="Pantalla de ordenador mostrando la ejecución de código en Python con abstracción simplificada de hardware">
            <a:extLst>
              <a:ext uri="{FF2B5EF4-FFF2-40B4-BE49-F238E27FC236}">
                <a16:creationId xmlns:a16="http://schemas.microsoft.com/office/drawing/2014/main" id="{6EC837F3-11C9-4C9C-A038-08CCA1594A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E48E1-AFB9-43A1-58C9-C09DF32A167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Ejecución interpretada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se ejecuta línea por línea sin compilación previa, facilitando el desarrollo rápido y la depuración eficiente.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Lenguaje de alto nivel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abstrae los detalles del hardware, permitiendo a los programadores enfocarse en la lógica y mejorar la legibilidad.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46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19BE-58E2-C4D8-D8C1-552A358A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Sintaxis sencilla y legible</a:t>
            </a:r>
          </a:p>
        </p:txBody>
      </p:sp>
      <p:pic>
        <p:nvPicPr>
          <p:cNvPr id="5" name="Content Placeholder 4" descr="Fragmentos de código en Python limpios y simples que muestran sangría y legibilidad">
            <a:extLst>
              <a:ext uri="{FF2B5EF4-FFF2-40B4-BE49-F238E27FC236}">
                <a16:creationId xmlns:a16="http://schemas.microsoft.com/office/drawing/2014/main" id="{EBAA22EB-5677-4EBC-A97B-61D74008F2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BAFA9-A79C-EC21-72F7-0B1FB6A5454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Sintaxis Intuitiva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usa una sintaxis cercana al lenguaje natural, facilitando la comprensión y el aprendizaje rápido.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Reducción de Errores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 sintaxis clara ayuda a evitar errores comunes, haciendo el desarrollo más eficiente y confiable.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Buenas Prácticas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 indentación obligatoria en Python promueve un código ordenado y fácil de mantener.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41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B5A9-37BC-CF15-B7E4-189DBB7B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 sz="3100" dirty="0" err="1"/>
              <a:t>Multiparadigma</a:t>
            </a:r>
            <a:r>
              <a:rPr lang="en-US" sz="3100" dirty="0"/>
              <a:t>: </a:t>
            </a:r>
            <a:r>
              <a:rPr lang="en-US" sz="3100" dirty="0" err="1"/>
              <a:t>orientado</a:t>
            </a:r>
            <a:r>
              <a:rPr lang="en-US" sz="3100" dirty="0"/>
              <a:t> a </a:t>
            </a:r>
            <a:r>
              <a:rPr lang="en-US" sz="3100" dirty="0" err="1"/>
              <a:t>objetos</a:t>
            </a:r>
            <a:r>
              <a:rPr lang="en-US" sz="3100" dirty="0"/>
              <a:t>, </a:t>
            </a:r>
            <a:r>
              <a:rPr lang="en-US" sz="3100" dirty="0" err="1"/>
              <a:t>funcional</a:t>
            </a:r>
            <a:r>
              <a:rPr lang="en-US" sz="3100" dirty="0"/>
              <a:t> y </a:t>
            </a:r>
            <a:r>
              <a:rPr lang="en-US" sz="3100" dirty="0" err="1"/>
              <a:t>estructurado</a:t>
            </a:r>
            <a:endParaRPr lang="en-US" sz="3100" dirty="0"/>
          </a:p>
        </p:txBody>
      </p:sp>
      <p:pic>
        <p:nvPicPr>
          <p:cNvPr id="5" name="Content Placeholder 4" descr="Ilustración de paradigmas de programación que incluyen símbolos de programación orientados a objetos, funcionales y estructurados">
            <a:extLst>
              <a:ext uri="{FF2B5EF4-FFF2-40B4-BE49-F238E27FC236}">
                <a16:creationId xmlns:a16="http://schemas.microsoft.com/office/drawing/2014/main" id="{B60B3980-BFE1-4530-B170-7D9B74AA73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B6F2-457E-F11B-D545-8E266C0F7F6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Programación orientada a objetos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t>Python facilita la modularidad mediante la programación orientada a objetos con clases y objetos que organizan el código.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Programación funcional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t>El soporte funcional permite a los desarrolladores usar funciones puras y evitar efectos secundarios para mayor claridad.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Programación estructurada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t>La programación estructurada en Python mejora la reutilización y organización del código con control de flujo claro.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74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C17A-22C8-9E52-ABAD-61A3C181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 sz="3100"/>
              <a:t>Instalación y configuración del entorno</a:t>
            </a:r>
          </a:p>
        </p:txBody>
      </p:sp>
      <p:pic>
        <p:nvPicPr>
          <p:cNvPr id="5" name="Content Placeholder 4" descr="Configuración del ordenador con instalación en Python y editor de código en pantalla con ajustes de entorno">
            <a:extLst>
              <a:ext uri="{FF2B5EF4-FFF2-40B4-BE49-F238E27FC236}">
                <a16:creationId xmlns:a16="http://schemas.microsoft.com/office/drawing/2014/main" id="{FAC9D2B9-3257-4F58-B6BA-80C5390D1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C1BF1-6AC2-FE64-ECE4-6C38E8CF737B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 err="1"/>
              <a:t>Instalación</a:t>
            </a:r>
            <a:r>
              <a:rPr lang="en-US" b="1" dirty="0"/>
              <a:t> del </a:t>
            </a:r>
            <a:r>
              <a:rPr lang="en-US" b="1" dirty="0" err="1"/>
              <a:t>intérprete</a:t>
            </a:r>
            <a:r>
              <a:rPr lang="en-US" b="1" dirty="0"/>
              <a:t> Python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 err="1"/>
              <a:t>Descargar</a:t>
            </a:r>
            <a:r>
              <a:rPr dirty="0"/>
              <a:t> e </a:t>
            </a:r>
            <a:r>
              <a:rPr dirty="0" err="1"/>
              <a:t>instalar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intérprete</a:t>
            </a:r>
            <a:r>
              <a:rPr dirty="0"/>
              <a:t> de Python </a:t>
            </a:r>
            <a:r>
              <a:rPr dirty="0" err="1"/>
              <a:t>desde</a:t>
            </a:r>
            <a:r>
              <a:rPr dirty="0"/>
              <a:t> la web </a:t>
            </a:r>
            <a:r>
              <a:rPr dirty="0" err="1"/>
              <a:t>oficial</a:t>
            </a:r>
            <a:r>
              <a:rPr dirty="0"/>
              <a:t> para </a:t>
            </a:r>
            <a:r>
              <a:rPr dirty="0" err="1"/>
              <a:t>comenzar</a:t>
            </a:r>
            <a:r>
              <a:rPr dirty="0"/>
              <a:t> a </a:t>
            </a:r>
            <a:r>
              <a:rPr dirty="0" err="1"/>
              <a:t>programar</a:t>
            </a:r>
            <a:r>
              <a:rPr dirty="0"/>
              <a:t>.</a:t>
            </a:r>
            <a:endParaRPr lang="en-US" dirty="0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 err="1"/>
              <a:t>Entorno</a:t>
            </a:r>
            <a:r>
              <a:rPr lang="en-US" b="1" dirty="0"/>
              <a:t> de </a:t>
            </a:r>
            <a:r>
              <a:rPr lang="en-US" b="1" dirty="0" err="1"/>
              <a:t>desarrollo</a:t>
            </a:r>
            <a:endParaRPr lang="en-US" b="1" dirty="0"/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 err="1"/>
              <a:t>Seleccionar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de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Visual Studio Code o PyCharm para </a:t>
            </a:r>
            <a:r>
              <a:rPr dirty="0" err="1"/>
              <a:t>facilitar</a:t>
            </a:r>
            <a:r>
              <a:rPr dirty="0"/>
              <a:t> la </a:t>
            </a:r>
            <a:r>
              <a:rPr dirty="0" err="1"/>
              <a:t>programación</a:t>
            </a:r>
            <a:r>
              <a:rPr dirty="0"/>
              <a:t>.</a:t>
            </a:r>
            <a:endParaRPr lang="es-ES" dirty="0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b="1" dirty="0"/>
              <a:t>Configuración de variables y paquetes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dirty="0" err="1"/>
              <a:t>Configurar</a:t>
            </a:r>
            <a:r>
              <a:rPr dirty="0"/>
              <a:t> variables </a:t>
            </a:r>
            <a:r>
              <a:rPr dirty="0" err="1"/>
              <a:t>ambientales</a:t>
            </a:r>
            <a:r>
              <a:rPr dirty="0"/>
              <a:t> y </a:t>
            </a:r>
            <a:r>
              <a:rPr dirty="0" err="1"/>
              <a:t>librerías</a:t>
            </a:r>
            <a:r>
              <a:rPr dirty="0"/>
              <a:t> para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 y </a:t>
            </a:r>
            <a:r>
              <a:rPr dirty="0" err="1"/>
              <a:t>asegurar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estable</a:t>
            </a:r>
            <a:r>
              <a:rPr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74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7C41-82BF-8983-8E1A-E6F6FD96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/>
              <a:t>Estructura de un programa en Python</a:t>
            </a:r>
          </a:p>
        </p:txBody>
      </p:sp>
      <p:pic>
        <p:nvPicPr>
          <p:cNvPr id="5" name="Content Placeholder 4" descr="Editor de código en Python que muestra jerarquía de instrucciones, funciones y clases con sangría">
            <a:extLst>
              <a:ext uri="{FF2B5EF4-FFF2-40B4-BE49-F238E27FC236}">
                <a16:creationId xmlns:a16="http://schemas.microsoft.com/office/drawing/2014/main" id="{67824375-8699-44A6-88D2-B600DCFE5E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539" r="8539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E9379-F1A8-3B54-2F2B-97376BD7C86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Declaraciones en Python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Las declaraciones forman la base del programa y se ejecutan en secuencia para realizar tareas específicas.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Funciones definidas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Las funciones organizan el código en bloques reutilizables y mejoran la estructura del programa.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Clases opcionales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Las clases permiten la programación orientada a objetos para modelar entidades y comportamientos complejos.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Indentación jerárquica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La indentación define la jerarquía y el flujo del programa, siendo fundamental en Python para el correcto funcionamiento.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3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EEA1-1416-3693-4423-0726EBB8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/>
              <a:t>Ejemplo de código básico y ejecución</a:t>
            </a:r>
          </a:p>
        </p:txBody>
      </p:sp>
      <p:pic>
        <p:nvPicPr>
          <p:cNvPr id="5" name="Content Placeholder 4" descr="Script simple en Python en pantalla de ordenador mostrando la salida de Hello World y el flujo de ejecución del código">
            <a:extLst>
              <a:ext uri="{FF2B5EF4-FFF2-40B4-BE49-F238E27FC236}">
                <a16:creationId xmlns:a16="http://schemas.microsoft.com/office/drawing/2014/main" id="{654846B2-8ECE-4B97-A710-2CC5C0F8ED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586" r="1358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F2203-461C-3DDF-2AE2-59907117A8C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Script Básico en Python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Un script básico como 'Hello, World!' muestra la estructura mínima de un programa funcional en Python.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Flujo de Ejecución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El ejemplo ilustra cómo se ejecuta el código paso a paso en la consola del programa.</a:t>
            </a:r>
            <a:endParaRPr lang="en-US"/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/>
              <a:t>Fundamento para Desarrollo</a:t>
            </a:r>
          </a:p>
          <a:p>
            <a:pPr marL="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t>Este ejemplo simple sienta las bases para entender programas más complejos en Python.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0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F330-E632-D959-5D58-1F15F65F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sz="5100"/>
              <a:t>Conclusión: Python como herramienta versátil y accesible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8269635-21E7-75F8-1F61-751780D2462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6921571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57201" y="4101402"/>
          <a:ext cx="83820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62690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Microsoft Office PowerPoint</Application>
  <PresentationFormat>Widescreen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Light</vt:lpstr>
      <vt:lpstr>Arial</vt:lpstr>
      <vt:lpstr>Century Gothic</vt:lpstr>
      <vt:lpstr>Chamberi Super Display</vt:lpstr>
      <vt:lpstr>Wingdings 3</vt:lpstr>
      <vt:lpstr>Prismatic polygons</vt:lpstr>
      <vt:lpstr>Slice</vt:lpstr>
      <vt:lpstr>Principios Básicos de Python: Propósito, Tipo de Lenguaje y Uso</vt:lpstr>
      <vt:lpstr>Temas de la Agenda</vt:lpstr>
      <vt:lpstr>Python en programación general</vt:lpstr>
      <vt:lpstr>Aplicaciones en ciencia de datos y automatización</vt:lpstr>
      <vt:lpstr>Desarrollo web y de software</vt:lpstr>
      <vt:lpstr>Lenguaje interpretado y de alto nivel</vt:lpstr>
      <vt:lpstr>Sintaxis sencilla y legible</vt:lpstr>
      <vt:lpstr>Multiparadigma: orientado a objetos, funcional y estructurado</vt:lpstr>
      <vt:lpstr>Instalación y configuración del entorno</vt:lpstr>
      <vt:lpstr>Estructura de un programa en Python</vt:lpstr>
      <vt:lpstr>Ejemplo de código básico y ejecución</vt:lpstr>
      <vt:lpstr>Conclusión: Python como herramienta versátil y accesible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1</cp:revision>
  <dcterms:created xsi:type="dcterms:W3CDTF">2026-04-14T22:52:20Z</dcterms:created>
  <dcterms:modified xsi:type="dcterms:W3CDTF">2026-04-14T23:27:58Z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